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75389"/>
  </p:normalViewPr>
  <p:slideViewPr>
    <p:cSldViewPr snapToGrid="0" snapToObjects="1">
      <p:cViewPr>
        <p:scale>
          <a:sx n="85" d="100"/>
          <a:sy n="85" d="100"/>
        </p:scale>
        <p:origin x="57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7765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Hey everyone. We're working on epidemic containment on social networks, but with a twist: the cost of breaking a friendship matters. I'm Karlo, and the team is Alec, Jackson, and Ryan.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Here's the setup. Suppose a disease is spreading through a college's friendship graph. You can't remove people from society — that's not how real interventions work. What public-health policy actually does is restrict who's allowed to meet whom. Closing a school, reassigning a dorm, banning a gathering — all of those are edge cuts. And every cut has a cost. Severing a roommate tie is socially expensive, but severing a casual acquaintance is cheap.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the question is: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**what's the lowest-cost set of edges to cut so the epidemic stays under control?**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That's a constrained optimization on a weighted graph, with a learned component sitting inside it. Alec, take it from the math.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use the SIS model — Susceptible–Infected–Susceptible — because COVID-style diseases don't give permanent immunity. People recover, then catch it again. We run everything on five Facebook100 campuses, picked for diversity in clustering coefficient.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There's a clean threshold for whether an SIS epidemic dies out or persists: </a:t>
            </a:r>
            <a:r>
              <a:rPr lang="el-G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τ_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= 1 over the leading eigenvalue of the adjacency matrix. Below </a:t>
            </a:r>
            <a:r>
              <a:rPr lang="el-G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τ_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c, the disease dies. Above, it goes endemic. Edge removal directly raises this threshold — cutting bridges shrinks lambda_1, which raises </a:t>
            </a:r>
            <a:r>
              <a:rPr lang="el-G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τ_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c, which shrinks the endemic region.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the cost function. We follow our advisor's suggestion: each node has feature data — dorm, year, major, gender. We L2-normalize the one-hot encoding and define cost as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**sigmoid of the dot product**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two endpoint feature vectors. Similar features means socially close, means an expensive edge to cut. J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compare four policies, ordered from naive to learned.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**Random edge removal**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the trivial baseline. Every other policy has to beat it.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**Edge betweenness centrality, divided by cost**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bottleneck edges divided by what they cost to cut. The classical bang-for-buck baseline. And then two more interesting ones.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**Distance Threshold**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the realistic, implementable one — the kind of policy a government can actually enforce. We partition the graph into communities, build a community meta-graph, and cut edges between communities that are far apart in that meta-graph. Equivalent to "stay within your friend bubble."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**the novel piece — a GNN-learned policy.**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2-layer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GraphSAGE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encoder learns node embeddings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z_v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a self-supervised link-prediction task. The cost of an edge is sigmoid(&lt;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z_u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z_v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&gt;) — basically, the probability the GNN thinks two nodes "should" be connected. Then we score each edge by eigenvector product divided by that learned cost. The point isn't that we invented a new architecture. The point is the cost function itself is learned end-to-end from the graph, instead of being hand-designed. Ryan, results.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headline. Across all five campuses, near the epidemic threshold — that's R0 around 1.5 — the GNN policy is the clear winner. At a 5% cost budget, it cuts steady-state prevalence by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**4.0 percentage points**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the next-best classical baseline only achieves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**2.2**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learned cost is roughly twice as efficient where it matters most: when the disease is barely sustaining itself.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the picture flips at R0 = 6. In a heavily endemic regime, distance-threshold and edge-betweenness take over — there's nothing subtle to optimize once the graph is saturated.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robustness panels.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**Compliance:**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GNN at 60% non-compliance still beats every other policy at full compliance.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**SIR alternative:**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same regime split, even sharper.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**Adversarial seeding**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start the disease at the eigenvector backbone — the GNN now wins both regimes including R0=6 where it had been third under random seeding.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architecture ablation says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GraphSAGE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GAT, and GCN are indistinguishable — the cost-learning framework matters, not the message-passing operator. And the cost-function ablation says the GNN advantage widens when cost has more dynamic range.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honest caveat: Facebook100 is a friendship graph, not a contact graph. We're not solving COVID. We're showing that the cost-aware framing changes which policies look "best" — and the gap between the mathematically optimal GNN and the enforceable distance threshold is the interesting part.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built a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Streamlit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 where you can pick a campus, dial R0 and the budget, and watch SIS spread on the residual graph. Let me show you.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FINAL PROJECT  ·  SPRING 2026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34095" y="6611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KARLO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 flipV="1">
            <a:off x="4533057" y="2920014"/>
            <a:ext cx="9480" cy="268775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33057" y="3188790"/>
            <a:ext cx="515952" cy="383882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 flipH="1">
            <a:off x="3968764" y="4176274"/>
            <a:ext cx="215341" cy="112232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 flipV="1">
            <a:off x="3899382" y="4175453"/>
            <a:ext cx="284723" cy="821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 flipV="1">
            <a:off x="5049009" y="3572672"/>
            <a:ext cx="157963" cy="227498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99382" y="4175453"/>
            <a:ext cx="69382" cy="113052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H="1" flipV="1">
            <a:off x="3816002" y="4790329"/>
            <a:ext cx="315419" cy="11488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H="1" flipV="1">
            <a:off x="3601161" y="5253746"/>
            <a:ext cx="447840" cy="278300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flipH="1">
            <a:off x="3601161" y="4790329"/>
            <a:ext cx="214841" cy="463417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H="1" flipV="1">
            <a:off x="2624656" y="5407917"/>
            <a:ext cx="504569" cy="144049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V="1">
            <a:off x="2227215" y="5407917"/>
            <a:ext cx="397441" cy="314286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H="1" flipV="1">
            <a:off x="2265618" y="4284491"/>
            <a:ext cx="240021" cy="458342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H="1" flipV="1">
            <a:off x="2247797" y="4227254"/>
            <a:ext cx="257843" cy="515579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H="1" flipV="1">
            <a:off x="2247797" y="4227254"/>
            <a:ext cx="17822" cy="57237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H="1" flipV="1">
            <a:off x="1567169" y="4220432"/>
            <a:ext cx="223264" cy="462987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520763" y="4023745"/>
            <a:ext cx="46406" cy="196688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1520763" y="3813226"/>
            <a:ext cx="39822" cy="210519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H="1" flipV="1">
            <a:off x="1560585" y="3813226"/>
            <a:ext cx="6584" cy="407206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flipV="1">
            <a:off x="852963" y="3813226"/>
            <a:ext cx="707622" cy="15372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V="1">
            <a:off x="855059" y="2562675"/>
            <a:ext cx="536205" cy="374530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flipV="1">
            <a:off x="855059" y="2363008"/>
            <a:ext cx="321931" cy="574197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flipV="1">
            <a:off x="1819741" y="3051538"/>
            <a:ext cx="327293" cy="149307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flipH="1" flipV="1">
            <a:off x="1176991" y="2363008"/>
            <a:ext cx="214274" cy="199667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V="1">
            <a:off x="2147033" y="2945711"/>
            <a:ext cx="294300" cy="105827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flipH="1" flipV="1">
            <a:off x="2322574" y="2518574"/>
            <a:ext cx="118760" cy="427137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242311" y="1903694"/>
            <a:ext cx="80263" cy="614880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242311" y="1903694"/>
            <a:ext cx="436809" cy="601123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 flipV="1">
            <a:off x="2322574" y="2504817"/>
            <a:ext cx="356546" cy="13757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093902" y="1462945"/>
            <a:ext cx="807445" cy="365627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 flipV="1">
            <a:off x="3676813" y="2369707"/>
            <a:ext cx="125742" cy="185701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 flipH="1">
            <a:off x="3644029" y="2555408"/>
            <a:ext cx="32784" cy="401789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 flipV="1">
            <a:off x="3802556" y="2139078"/>
            <a:ext cx="480784" cy="230630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901347" y="1828572"/>
            <a:ext cx="381993" cy="310505"/>
          </a:xfrm>
          <a:prstGeom prst="line">
            <a:avLst/>
          </a:prstGeom>
          <a:noFill/>
          <a:ln w="6350">
            <a:solidFill>
              <a:srgbClr val="9FA8B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496481" y="3152214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147530" y="4139698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170396" y="3763594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862806" y="4138877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932188" y="4251929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094845" y="4765241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012424" y="5495470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779426" y="4753753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564585" y="5217170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092649" y="5515390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190639" y="5685627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469063" y="4706258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588080" y="5371341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229042" y="4247915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211221" y="4190678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753857" y="4646844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484187" y="3987169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530593" y="4183856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16387" y="3792022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524009" y="3776650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18483" y="2900630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1783165" y="3164270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354689" y="2526099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140415" y="2326432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110457" y="3014962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2404757" y="2909135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205735" y="1867118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285998" y="2481998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642543" y="2468241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3057326" y="1426369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3640237" y="2518832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765980" y="2333131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864771" y="1791996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246763" y="2102502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3607453" y="2920621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4505960" y="2883438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012433" y="3536096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088846" y="3717649"/>
            <a:ext cx="73152" cy="73152"/>
          </a:xfrm>
          <a:prstGeom prst="ellipse">
            <a:avLst/>
          </a:prstGeom>
          <a:solidFill>
            <a:srgbClr val="9FA8B8">
              <a:alpha val="65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 flipH="1" flipV="1">
            <a:off x="3996561" y="3256821"/>
            <a:ext cx="51524" cy="81988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 flipH="1" flipV="1">
            <a:off x="3964628" y="3209399"/>
            <a:ext cx="83457" cy="129410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 flipH="1">
            <a:off x="3343981" y="4149284"/>
            <a:ext cx="389034" cy="122340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 flipH="1">
            <a:off x="3209772" y="4149284"/>
            <a:ext cx="523243" cy="260315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 flipH="1">
            <a:off x="3209772" y="4271624"/>
            <a:ext cx="134210" cy="137976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 flipH="1">
            <a:off x="2858878" y="4409600"/>
            <a:ext cx="350893" cy="322224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 flipH="1" flipV="1">
            <a:off x="2430820" y="4395090"/>
            <a:ext cx="428058" cy="336734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 flipV="1">
            <a:off x="2196941" y="4395090"/>
            <a:ext cx="233880" cy="463878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 flipH="1" flipV="1">
            <a:off x="1977711" y="4161937"/>
            <a:ext cx="453109" cy="233153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 flipH="1" flipV="1">
            <a:off x="1727478" y="3626924"/>
            <a:ext cx="250233" cy="535014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 flipV="1">
            <a:off x="1727478" y="2769560"/>
            <a:ext cx="77107" cy="857364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 flipV="1">
            <a:off x="1804585" y="2737455"/>
            <a:ext cx="412115" cy="32106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804585" y="2769560"/>
            <a:ext cx="699915" cy="253569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 flipH="1" flipV="1">
            <a:off x="2216700" y="2737455"/>
            <a:ext cx="287800" cy="285675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 flipV="1">
            <a:off x="2504500" y="2996906"/>
            <a:ext cx="594409" cy="26224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3098909" y="2996906"/>
            <a:ext cx="150524" cy="52230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 flipV="1">
            <a:off x="3098909" y="2697318"/>
            <a:ext cx="429197" cy="299588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 flipV="1">
            <a:off x="3249433" y="2697318"/>
            <a:ext cx="278673" cy="351819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>
            <a:off x="3964628" y="3209399"/>
            <a:ext cx="31934" cy="47422"/>
          </a:xfrm>
          <a:prstGeom prst="line">
            <a:avLst/>
          </a:prstGeom>
          <a:noFill/>
          <a:ln w="6350">
            <a:solidFill>
              <a:srgbClr val="FF5A4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4011509" y="3302233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3696439" y="4112708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4335567" y="4246325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3307405" y="4235048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3173196" y="4373024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2822302" y="4695248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160365" y="4822392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394244" y="4358514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1941135" y="4125361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1690902" y="3590348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768009" y="2732984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467924" y="2986554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2180124" y="2700879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3062333" y="2960330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212857" y="3012561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491531" y="2660742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3928052" y="3172823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3959985" y="3220245"/>
            <a:ext cx="73152" cy="73152"/>
          </a:xfrm>
          <a:prstGeom prst="ellipse">
            <a:avLst/>
          </a:prstGeom>
          <a:solidFill>
            <a:srgbClr val="FF5A4E">
              <a:alpha val="50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5852160" y="1325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FINAL PROJECT  ·  SPRING 2026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5852160" y="169164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Cost-Constrained</a:t>
            </a:r>
            <a:endParaRPr lang="en-US" sz="4800" dirty="0"/>
          </a:p>
        </p:txBody>
      </p:sp>
      <p:sp>
        <p:nvSpPr>
          <p:cNvPr id="115" name="Text 113"/>
          <p:cNvSpPr/>
          <p:nvPr/>
        </p:nvSpPr>
        <p:spPr>
          <a:xfrm>
            <a:off x="5852160" y="242316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Removal</a:t>
            </a:r>
            <a:endParaRPr lang="en-US" sz="4800" dirty="0"/>
          </a:p>
        </p:txBody>
      </p:sp>
      <p:sp>
        <p:nvSpPr>
          <p:cNvPr id="116" name="Text 114"/>
          <p:cNvSpPr/>
          <p:nvPr/>
        </p:nvSpPr>
        <p:spPr>
          <a:xfrm>
            <a:off x="5852160" y="31546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Epidemic Containment.</a:t>
            </a:r>
            <a:endParaRPr lang="en-US" sz="4000" dirty="0"/>
          </a:p>
        </p:txBody>
      </p:sp>
      <p:sp>
        <p:nvSpPr>
          <p:cNvPr id="117" name="Text 115"/>
          <p:cNvSpPr/>
          <p:nvPr/>
        </p:nvSpPr>
        <p:spPr>
          <a:xfrm>
            <a:off x="5852160" y="4114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cost of breaking a friendship.</a:t>
            </a:r>
            <a:endParaRPr lang="en-US" sz="1800" dirty="0"/>
          </a:p>
        </p:txBody>
      </p:sp>
      <p:sp>
        <p:nvSpPr>
          <p:cNvPr id="118" name="Shape 116"/>
          <p:cNvSpPr/>
          <p:nvPr/>
        </p:nvSpPr>
        <p:spPr>
          <a:xfrm>
            <a:off x="5852160" y="4617720"/>
            <a:ext cx="5852160" cy="0"/>
          </a:xfrm>
          <a:prstGeom prst="line">
            <a:avLst/>
          </a:prstGeom>
          <a:noFill/>
          <a:ln w="9525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5852160" y="4892040"/>
            <a:ext cx="109728" cy="109728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6053328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Karlo Vrančić</a:t>
            </a:r>
            <a:endParaRPr lang="en-US" sz="1300" dirty="0"/>
          </a:p>
        </p:txBody>
      </p:sp>
      <p:sp>
        <p:nvSpPr>
          <p:cNvPr id="121" name="Text 119"/>
          <p:cNvSpPr/>
          <p:nvPr/>
        </p:nvSpPr>
        <p:spPr>
          <a:xfrm>
            <a:off x="6053328" y="5074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8778240" y="4892040"/>
            <a:ext cx="109728" cy="109728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8979408" y="4846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Alec Leprevotte</a:t>
            </a:r>
            <a:endParaRPr lang="en-US" sz="1300" dirty="0"/>
          </a:p>
        </p:txBody>
      </p:sp>
      <p:sp>
        <p:nvSpPr>
          <p:cNvPr id="124" name="Text 122"/>
          <p:cNvSpPr/>
          <p:nvPr/>
        </p:nvSpPr>
        <p:spPr>
          <a:xfrm>
            <a:off x="8979408" y="5074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5852160" y="5394960"/>
            <a:ext cx="109728" cy="109728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6053328" y="5349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Webster</a:t>
            </a:r>
            <a:endParaRPr lang="en-US" sz="1300" dirty="0"/>
          </a:p>
        </p:txBody>
      </p:sp>
      <p:sp>
        <p:nvSpPr>
          <p:cNvPr id="127" name="Text 125"/>
          <p:cNvSpPr/>
          <p:nvPr/>
        </p:nvSpPr>
        <p:spPr>
          <a:xfrm>
            <a:off x="6053328" y="5577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8778240" y="5394960"/>
            <a:ext cx="109728" cy="109728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8979408" y="5349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Jiang</a:t>
            </a:r>
            <a:endParaRPr lang="en-US" sz="1300" dirty="0"/>
          </a:p>
        </p:txBody>
      </p:sp>
      <p:sp>
        <p:nvSpPr>
          <p:cNvPr id="130" name="Text 128"/>
          <p:cNvSpPr/>
          <p:nvPr/>
        </p:nvSpPr>
        <p:spPr>
          <a:xfrm>
            <a:off x="8979408" y="5577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800" dirty="0"/>
          </a:p>
        </p:txBody>
      </p:sp>
      <p:sp>
        <p:nvSpPr>
          <p:cNvPr id="131" name="Text 129"/>
          <p:cNvSpPr/>
          <p:nvPr/>
        </p:nvSpPr>
        <p:spPr>
          <a:xfrm>
            <a:off x="5852160" y="5943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Harvard  ·  Prof. Austern  ·  28 April 2026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cost-aware edge removal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11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34095" y="6611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KARLO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INTERVENTIONS LOOK LIKE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remove people.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Public-health policy is, structurally, edge cuts on a graph.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interventions don't isolate individuals, instead they restrict who is allowed to meet whom: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685032"/>
            <a:ext cx="91440" cy="91440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closures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069080"/>
            <a:ext cx="91440" cy="91440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9502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 reassignments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53128"/>
            <a:ext cx="91440" cy="91440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43342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contact-tracing isolation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4837176"/>
            <a:ext cx="91440" cy="91440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47183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restrictions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221224"/>
            <a:ext cx="91440" cy="91440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51023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 size limits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0" y="260604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INTERVENTION  ·  EDGE-SET  ·  COST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2926080"/>
            <a:ext cx="5532120" cy="0"/>
          </a:xfrm>
          <a:prstGeom prst="line">
            <a:avLst/>
          </a:prstGeom>
          <a:noFill/>
          <a:ln w="9525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 reassignment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within-dorm ties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652760" y="3108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566160"/>
            <a:ext cx="5532120" cy="0"/>
          </a:xfrm>
          <a:prstGeom prst="line">
            <a:avLst/>
          </a:prstGeom>
          <a:noFill/>
          <a:ln w="5080">
            <a:solidFill>
              <a:srgbClr val="3A4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cancellation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2104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classmate ties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5276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C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4160520"/>
            <a:ext cx="5532120" cy="0"/>
          </a:xfrm>
          <a:prstGeom prst="line">
            <a:avLst/>
          </a:prstGeom>
          <a:noFill/>
          <a:ln w="5080">
            <a:solidFill>
              <a:srgbClr val="3A4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2648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ban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2104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between-campus ties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65276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4754880"/>
            <a:ext cx="5532120" cy="0"/>
          </a:xfrm>
          <a:prstGeom prst="line">
            <a:avLst/>
          </a:prstGeom>
          <a:noFill/>
          <a:ln w="5080">
            <a:solidFill>
              <a:srgbClr val="3A4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26480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cluster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21040" y="4892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node's full nbhd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652760" y="4892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v.high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0" y="571500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depends on which ties you break — that's the framing this project starts from.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cost-aware edge removal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11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34095" y="6611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KARLO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FORMAL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39" y="1051560"/>
            <a:ext cx="114134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cheapest cut that keeps the disease subcritical?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6858000" cy="3200400"/>
          </a:xfrm>
          <a:prstGeom prst="rect">
            <a:avLst/>
          </a:prstGeom>
          <a:solidFill>
            <a:srgbClr val="131A2E"/>
          </a:solidFill>
          <a:ln w="9525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37160" cy="0"/>
          </a:xfrm>
          <a:prstGeom prst="line">
            <a:avLst/>
          </a:prstGeom>
          <a:noFill/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0" cy="137160"/>
          </a:xfrm>
          <a:prstGeom prst="line">
            <a:avLst/>
          </a:prstGeom>
          <a:noFill/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H="1">
            <a:off x="7269480" y="2606040"/>
            <a:ext cx="137160" cy="0"/>
          </a:xfrm>
          <a:prstGeom prst="line">
            <a:avLst/>
          </a:prstGeom>
          <a:noFill/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06640" y="2606040"/>
            <a:ext cx="0" cy="137160"/>
          </a:xfrm>
          <a:prstGeom prst="line">
            <a:avLst/>
          </a:prstGeom>
          <a:noFill/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5806440"/>
            <a:ext cx="137160" cy="0"/>
          </a:xfrm>
          <a:prstGeom prst="line">
            <a:avLst/>
          </a:prstGeom>
          <a:noFill/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V="1">
            <a:off x="548640" y="5669280"/>
            <a:ext cx="0" cy="137160"/>
          </a:xfrm>
          <a:prstGeom prst="line">
            <a:avLst/>
          </a:prstGeom>
          <a:noFill/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H="1">
            <a:off x="7269480" y="5806440"/>
            <a:ext cx="137160" cy="0"/>
          </a:xfrm>
          <a:prstGeom prst="line">
            <a:avLst/>
          </a:prstGeom>
          <a:noFill/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V="1">
            <a:off x="7406640" y="5669280"/>
            <a:ext cx="0" cy="137160"/>
          </a:xfrm>
          <a:prstGeom prst="line">
            <a:avLst/>
          </a:prstGeom>
          <a:noFill/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minimize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651760" y="3200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c(e)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743200" y="3685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∈ E_cut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4160520"/>
            <a:ext cx="6126480" cy="0"/>
          </a:xfrm>
          <a:prstGeom prst="line">
            <a:avLst/>
          </a:prstGeom>
          <a:noFill/>
          <a:ln w="6350">
            <a:solidFill>
              <a:srgbClr val="3A4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46177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prevalence_∞ ( G ∖ E_cut )  ≤  θ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" y="51206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E_cut  ⊆  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7240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ANNOTATIONS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0" y="2926080"/>
            <a:ext cx="3840480" cy="0"/>
          </a:xfrm>
          <a:prstGeom prst="line">
            <a:avLst/>
          </a:prstGeom>
          <a:noFill/>
          <a:ln w="9525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72400" y="3154680"/>
            <a:ext cx="1097280" cy="292608"/>
          </a:xfrm>
          <a:prstGeom prst="rect">
            <a:avLst/>
          </a:prstGeom>
          <a:solidFill>
            <a:srgbClr val="1B2440"/>
          </a:solidFill>
          <a:ln w="508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0" y="3154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c(e)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05256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proxy = σ(⟨xᵤ, x_v⟩)  →  defined slide 6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772400" y="3749040"/>
            <a:ext cx="1097280" cy="292608"/>
          </a:xfrm>
          <a:prstGeom prst="rect">
            <a:avLst/>
          </a:prstGeom>
          <a:solidFill>
            <a:srgbClr val="1B2440"/>
          </a:solidFill>
          <a:ln w="508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0" y="37490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prev_∞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52560" y="3703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SIS infected fraction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772400" y="4343400"/>
            <a:ext cx="1097280" cy="292608"/>
          </a:xfrm>
          <a:prstGeom prst="rect">
            <a:avLst/>
          </a:prstGeom>
          <a:solidFill>
            <a:srgbClr val="1B2440"/>
          </a:solidFill>
          <a:ln w="508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0" y="43434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052560" y="4297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public-health tolerance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772400" y="4937760"/>
            <a:ext cx="1097280" cy="292608"/>
          </a:xfrm>
          <a:prstGeom prst="rect">
            <a:avLst/>
          </a:prstGeom>
          <a:solidFill>
            <a:srgbClr val="1B2440"/>
          </a:solidFill>
          <a:ln w="508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772400" y="4937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∖ E_cut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052560" y="4892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graph after cuts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6217920"/>
            <a:ext cx="11109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equivalently: a cost-weighted variant of the immunization problem  ·  Tong et al. 2012, Saha et al. 2015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cost-aware edge removal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580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34095" y="6611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Susceptible → Infected → Susceptible.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Endemic respiratory diseases don't grant immunity. SIS lets you ask about steady state.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1691640" cy="1691640"/>
          </a:xfrm>
          <a:prstGeom prst="roundRect">
            <a:avLst>
              <a:gd name="adj" fmla="val 8108"/>
            </a:avLst>
          </a:prstGeom>
          <a:solidFill>
            <a:srgbClr val="131A2E"/>
          </a:solidFill>
          <a:ln w="25400">
            <a:solidFill>
              <a:srgbClr val="7FE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7FE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7FE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susceptible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69080" y="3063240"/>
            <a:ext cx="1691640" cy="1691640"/>
          </a:xfrm>
          <a:prstGeom prst="roundRect">
            <a:avLst>
              <a:gd name="adj" fmla="val 8108"/>
            </a:avLst>
          </a:prstGeom>
          <a:solidFill>
            <a:srgbClr val="131A2E"/>
          </a:solidFill>
          <a:ln w="254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69080" y="306324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4069080" y="42976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infected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3474720"/>
            <a:ext cx="1554480" cy="0"/>
          </a:xfrm>
          <a:prstGeom prst="line">
            <a:avLst/>
          </a:prstGeom>
          <a:noFill/>
          <a:ln w="19050">
            <a:solidFill>
              <a:srgbClr val="FF5A4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0" y="3108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· 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4343400"/>
            <a:ext cx="1554480" cy="0"/>
          </a:xfrm>
          <a:prstGeom prst="line">
            <a:avLst/>
          </a:prstGeom>
          <a:noFill/>
          <a:ln w="19050">
            <a:solidFill>
              <a:srgbClr val="7FE7B5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E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968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STEP    ·    DISCRETE TIME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5242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→ S             </a:t>
            </a:r>
            <a:r>
              <a:rPr lang="en-US" sz="1200" dirty="0" err="1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516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→ I             1 − (1 − β)ᵏ        k = # infected nbrs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0" y="2743200"/>
            <a:ext cx="4892040" cy="3377694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61988" y="2718816"/>
            <a:ext cx="45719" cy="3417317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4088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SIS, NOT SIR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4088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FE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MIMICS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35204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endemic respiratory diseases without permanent immunity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FE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40880" y="44348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non-trivial steady-state — our primary outcome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40880" y="5074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FE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40880" y="534924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theoretical scaffold around λ₁(A) — see slide 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5958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ON  ·  5 FACEBOOK100 CAMPUSES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6136133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Caltech36  ·  Bowdoin47  ·  Harvard1  ·  Penn94  ·  Tennessee9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cost-aware edge removal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11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34095" y="6611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DOES IT DIE OUT?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τ_c  =  1 / λ₁(A).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edges → shrink λ₁ → raise τ_c → contain.  ·  Wang, Chakrabarti, Wang &amp; Faloutsos 2003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6400800" cy="365760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5760720"/>
            <a:ext cx="5486400" cy="0"/>
          </a:xfrm>
          <a:prstGeom prst="line">
            <a:avLst/>
          </a:prstGeom>
          <a:noFill/>
          <a:ln w="9525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V="1">
            <a:off x="1188720" y="3017520"/>
            <a:ext cx="0" cy="2743200"/>
          </a:xfrm>
          <a:prstGeom prst="line">
            <a:avLst/>
          </a:prstGeom>
          <a:noFill/>
          <a:ln w="9525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8720" y="3017520"/>
            <a:ext cx="1371600" cy="2743200"/>
          </a:xfrm>
          <a:prstGeom prst="rect">
            <a:avLst/>
          </a:prstGeom>
          <a:solidFill>
            <a:srgbClr val="7FE7B5">
              <a:alpha val="12000"/>
            </a:srgbClr>
          </a:solidFill>
          <a:ln w="12700">
            <a:solidFill>
              <a:srgbClr val="7FE7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60320" y="3017520"/>
            <a:ext cx="4114800" cy="2743200"/>
          </a:xfrm>
          <a:prstGeom prst="rect">
            <a:avLst/>
          </a:prstGeom>
          <a:solidFill>
            <a:srgbClr val="FF5A4E">
              <a:alpha val="10000"/>
            </a:srgbClr>
          </a:solidFill>
          <a:ln w="12700">
            <a:solidFill>
              <a:srgbClr val="FF5A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V="1">
            <a:off x="2560320" y="3017520"/>
            <a:ext cx="0" cy="2743200"/>
          </a:xfrm>
          <a:prstGeom prst="line">
            <a:avLst/>
          </a:prstGeom>
          <a:noFill/>
          <a:ln w="9525">
            <a:solidFill>
              <a:srgbClr val="F4F1E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0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τ_c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flipV="1">
            <a:off x="1188720" y="5705697"/>
            <a:ext cx="182880" cy="17872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V="1">
            <a:off x="1371600" y="5679510"/>
            <a:ext cx="182880" cy="26188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V="1">
            <a:off x="1554480" y="5641463"/>
            <a:ext cx="182880" cy="38047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V="1">
            <a:off x="1737360" y="5586865"/>
            <a:ext cx="182880" cy="54598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V="1">
            <a:off x="1920240" y="5509887"/>
            <a:ext cx="182880" cy="76977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V="1">
            <a:off x="2103120" y="5404021"/>
            <a:ext cx="182880" cy="105866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2286000" y="5263292"/>
            <a:ext cx="182880" cy="140730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flipV="1">
            <a:off x="2468880" y="5084440"/>
            <a:ext cx="182880" cy="178852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V="1">
            <a:off x="2651760" y="4869687"/>
            <a:ext cx="182880" cy="214753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flipV="1">
            <a:off x="2834640" y="4628733"/>
            <a:ext cx="182880" cy="240955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flipV="1">
            <a:off x="3017520" y="4378107"/>
            <a:ext cx="182880" cy="250625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flipV="1">
            <a:off x="3200400" y="4137153"/>
            <a:ext cx="182880" cy="240955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V="1">
            <a:off x="3383280" y="3922400"/>
            <a:ext cx="182880" cy="214753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flipV="1">
            <a:off x="3566160" y="3743548"/>
            <a:ext cx="182880" cy="178852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V="1">
            <a:off x="3749040" y="3602819"/>
            <a:ext cx="182880" cy="140730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flipV="1">
            <a:off x="3931920" y="3496953"/>
            <a:ext cx="182880" cy="105866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 flipV="1">
            <a:off x="4114800" y="3419975"/>
            <a:ext cx="182880" cy="76977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flipV="1">
            <a:off x="4297680" y="3365377"/>
            <a:ext cx="182880" cy="54598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 flipV="1">
            <a:off x="4480560" y="3327330"/>
            <a:ext cx="182880" cy="38047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 flipV="1">
            <a:off x="4663440" y="3301143"/>
            <a:ext cx="182880" cy="26188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 flipV="1">
            <a:off x="4846320" y="3283271"/>
            <a:ext cx="182880" cy="17872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 flipV="1">
            <a:off x="5029200" y="3271145"/>
            <a:ext cx="182880" cy="12126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 flipV="1">
            <a:off x="5212080" y="3262950"/>
            <a:ext cx="182880" cy="8195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flipV="1">
            <a:off x="5394960" y="3257426"/>
            <a:ext cx="182880" cy="5524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 flipV="1">
            <a:off x="5577840" y="3253710"/>
            <a:ext cx="182880" cy="3716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 flipV="1">
            <a:off x="5760720" y="3251213"/>
            <a:ext cx="182880" cy="2497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 flipV="1">
            <a:off x="5943600" y="3249536"/>
            <a:ext cx="182880" cy="1677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 flipV="1">
            <a:off x="6126480" y="3248411"/>
            <a:ext cx="182880" cy="1125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 flipV="1">
            <a:off x="6309360" y="3247656"/>
            <a:ext cx="182880" cy="755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 flipV="1">
            <a:off x="6492240" y="3247150"/>
            <a:ext cx="182880" cy="506"/>
          </a:xfrm>
          <a:prstGeom prst="line">
            <a:avLst/>
          </a:prstGeom>
          <a:noFill/>
          <a:ln w="317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063240" y="4133347"/>
            <a:ext cx="365760" cy="365760"/>
          </a:xfrm>
          <a:prstGeom prst="ellipse">
            <a:avLst/>
          </a:prstGeom>
          <a:solidFill>
            <a:srgbClr val="FF5A4E">
              <a:alpha val="25000"/>
            </a:srgbClr>
          </a:solidFill>
          <a:ln w="12700">
            <a:solidFill>
              <a:srgbClr val="FF5A4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154680" y="4224787"/>
            <a:ext cx="182880" cy="182880"/>
          </a:xfrm>
          <a:prstGeom prst="ellipse">
            <a:avLst/>
          </a:prstGeom>
          <a:solidFill>
            <a:srgbClr val="FF5A4E"/>
          </a:solidFill>
          <a:ln w="19050">
            <a:solidFill>
              <a:srgbClr val="F4F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 flipV="1">
            <a:off x="3246120" y="3721867"/>
            <a:ext cx="548640" cy="457200"/>
          </a:xfrm>
          <a:prstGeom prst="line">
            <a:avLst/>
          </a:prstGeom>
          <a:noFill/>
          <a:ln w="9525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657600" y="3447547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headline R₀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371600" y="5212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kern="0" spc="100" dirty="0">
                <a:solidFill>
                  <a:srgbClr val="7FE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dies out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0352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i="1" kern="0" spc="1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endemic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18872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R₀  =  β · λ₁(A) / γ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94360" y="2880360"/>
            <a:ext cx="502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steady-state  prevalence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51560" y="5779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423160" y="5779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794760" y="5779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166360" y="5779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537960" y="5779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315200" y="2606040"/>
            <a:ext cx="4343400" cy="365760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315200" y="2606040"/>
            <a:ext cx="54864" cy="365760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58952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EPIDEMIC THRESHOLD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589520" y="32461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τ_c  =  1 / λ₁(A)</a:t>
            </a:r>
            <a:endParaRPr lang="en-US" sz="3200" dirty="0"/>
          </a:p>
        </p:txBody>
      </p:sp>
      <p:sp>
        <p:nvSpPr>
          <p:cNvPr id="63" name="Text 61"/>
          <p:cNvSpPr/>
          <p:nvPr/>
        </p:nvSpPr>
        <p:spPr>
          <a:xfrm>
            <a:off x="7589520" y="40233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SIS process dies out iff  β/γ  &lt;  τ_c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7589520" y="4526280"/>
            <a:ext cx="3794760" cy="0"/>
          </a:xfrm>
          <a:prstGeom prst="line">
            <a:avLst/>
          </a:prstGeom>
          <a:noFill/>
          <a:ln w="6350">
            <a:solidFill>
              <a:srgbClr val="3A4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58952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R₀  WE  SWEEP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589520" y="4983480"/>
            <a:ext cx="777240" cy="411480"/>
          </a:xfrm>
          <a:prstGeom prst="rect">
            <a:avLst/>
          </a:prstGeom>
          <a:solidFill>
            <a:srgbClr val="1B2440"/>
          </a:solidFill>
          <a:ln w="12700">
            <a:solidFill>
              <a:srgbClr val="5C6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589520" y="49834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8549640" y="4983480"/>
            <a:ext cx="777240" cy="41148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549640" y="49834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9509760" y="4983480"/>
            <a:ext cx="777240" cy="411480"/>
          </a:xfrm>
          <a:prstGeom prst="rect">
            <a:avLst/>
          </a:prstGeom>
          <a:solidFill>
            <a:srgbClr val="1B2440"/>
          </a:solidFill>
          <a:ln w="12700">
            <a:solidFill>
              <a:srgbClr val="5C6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509760" y="49834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10469880" y="4983480"/>
            <a:ext cx="777240" cy="411480"/>
          </a:xfrm>
          <a:prstGeom prst="rect">
            <a:avLst/>
          </a:prstGeom>
          <a:solidFill>
            <a:srgbClr val="1B2440"/>
          </a:solidFill>
          <a:ln w="12700">
            <a:solidFill>
              <a:srgbClr val="5C6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0469880" y="49834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7589520" y="55778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1.5 regime is the headline   →   slide 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cost-aware edge removal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11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34095" y="6611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 =  SIMILARITY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people share expensive ties.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sigmoid of feature dot product. Cheap edges to cut = strangers.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486400" cy="352044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c(u, v)  =  σ ( ⟨ x_u , x_v ⟩ )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4937760" cy="0"/>
          </a:xfrm>
          <a:prstGeom prst="line">
            <a:avLst/>
          </a:prstGeom>
          <a:noFill/>
          <a:ln w="6350">
            <a:solidFill>
              <a:srgbClr val="3A4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 VECTOR  x_u  ∈  ℝ⁵⁹⁸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over 6 attributes, L2-normalized: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937760"/>
            <a:ext cx="1554480" cy="320040"/>
          </a:xfrm>
          <a:prstGeom prst="rect">
            <a:avLst/>
          </a:prstGeom>
          <a:solidFill>
            <a:srgbClr val="1B2440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dorm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14600" y="4937760"/>
            <a:ext cx="1554480" cy="320040"/>
          </a:xfrm>
          <a:prstGeom prst="rect">
            <a:avLst/>
          </a:prstGeom>
          <a:solidFill>
            <a:srgbClr val="1B2440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14600" y="4937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4937760"/>
            <a:ext cx="1554480" cy="320040"/>
          </a:xfrm>
          <a:prstGeom prst="rect">
            <a:avLst/>
          </a:prstGeom>
          <a:solidFill>
            <a:srgbClr val="1B2440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0" y="4937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major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5394960"/>
            <a:ext cx="1554480" cy="320040"/>
          </a:xfrm>
          <a:prstGeom prst="rect">
            <a:avLst/>
          </a:prstGeom>
          <a:solidFill>
            <a:srgbClr val="1B2440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394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14600" y="5394960"/>
            <a:ext cx="1554480" cy="320040"/>
          </a:xfrm>
          <a:prstGeom prst="rect">
            <a:avLst/>
          </a:prstGeom>
          <a:solidFill>
            <a:srgbClr val="1B2440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14600" y="5394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06240" y="5394960"/>
            <a:ext cx="1554480" cy="320040"/>
          </a:xfrm>
          <a:prstGeom prst="rect">
            <a:avLst/>
          </a:prstGeom>
          <a:solidFill>
            <a:srgbClr val="1B2440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06240" y="5394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high-school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5852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values are their own category.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3028188"/>
            <a:ext cx="5394960" cy="1371600"/>
          </a:xfrm>
          <a:prstGeom prst="rect">
            <a:avLst/>
          </a:prstGeom>
          <a:solidFill>
            <a:srgbClr val="131A2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922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  ↔  BOB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3429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freshmen · Adams Hall · CS  →  4 / 6 attributes shared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3630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⟨x_A, x_B⟩ ≈ 0.67     →     c ≈ 0.66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92240" y="4023360"/>
            <a:ext cx="1280160" cy="29260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92240" y="40233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EXPENSIVE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63640" y="4526280"/>
            <a:ext cx="5394960" cy="1371600"/>
          </a:xfrm>
          <a:prstGeom prst="rect">
            <a:avLst/>
          </a:prstGeom>
          <a:solidFill>
            <a:srgbClr val="131A2E"/>
          </a:solidFill>
          <a:ln w="12700">
            <a:solidFill>
              <a:srgbClr val="7FE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9224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FE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ALICE  ↔  CAROL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92240" y="4892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freshman vs senior · diff dorm · diff major  →  0 / 6 shared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92240" y="51145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⟨x_A, x_C⟩ ≈ 0.0     →     c = 0.50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92240" y="5486400"/>
            <a:ext cx="1097280" cy="292608"/>
          </a:xfrm>
          <a:prstGeom prst="rect">
            <a:avLst/>
          </a:prstGeom>
          <a:solidFill>
            <a:srgbClr val="7FE7B5"/>
          </a:solidFill>
          <a:ln w="12700">
            <a:solidFill>
              <a:srgbClr val="7FE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92240" y="54864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CHEAPER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619506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observed band on Facebook100:  c ∈ [0.50, 0.73]   →   motivates the cost-function ablation (slide 13).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cost-aware edge removal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11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34095" y="6611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JACKSON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POLICIES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Random.  Centrality.  Bubble.  Learned.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 →  classical  →  realistic  →  novel.  Every policy must beat the floor.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532120" cy="169164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C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1737360" y="2971800"/>
            <a:ext cx="1280160" cy="292608"/>
          </a:xfrm>
          <a:prstGeom prst="rect">
            <a:avLst/>
          </a:prstGeom>
          <a:solidFill>
            <a:srgbClr val="9FA8B8"/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37360" y="2971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3832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edges uniformly without replacement until the cost budget is exhausted. The floor every policy has to beat.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5352" y="2606040"/>
            <a:ext cx="5532120" cy="169164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9672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C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7434072" y="2971800"/>
            <a:ext cx="1280160" cy="292608"/>
          </a:xfrm>
          <a:prstGeom prst="rect">
            <a:avLst/>
          </a:prstGeom>
          <a:solidFill>
            <a:srgbClr val="5C6680"/>
          </a:solidFill>
          <a:ln w="12700">
            <a:solidFill>
              <a:srgbClr val="5C6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34072" y="2971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CLASSICAL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19672" y="33832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betweenness  ÷  cost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19672" y="374091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score(e) = betweenness(e) / c(e), greedy. Sampled with k=300 pivots on Penn94/Tennessee95 (Brandes 2008). Bang-for-buck.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62272"/>
            <a:ext cx="5532120" cy="169164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46908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5C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1737360" y="4828032"/>
            <a:ext cx="1280160" cy="292608"/>
          </a:xfrm>
          <a:prstGeom prst="rect">
            <a:avLst/>
          </a:prstGeom>
          <a:solidFill>
            <a:srgbClr val="7FE7B5"/>
          </a:solidFill>
          <a:ln w="12700">
            <a:solidFill>
              <a:srgbClr val="7FE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737360" y="4828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REALISTIC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52395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Threshold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22960" y="558495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 communities → meta-graph → cut edges between communities far apart. The kind of policy a government can actually enforce.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45352" y="4462272"/>
            <a:ext cx="5532120" cy="1691640"/>
          </a:xfrm>
          <a:prstGeom prst="rect">
            <a:avLst/>
          </a:prstGeom>
          <a:solidFill>
            <a:srgbClr val="131A2E"/>
          </a:solidFill>
          <a:ln w="22225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08776" y="4425696"/>
            <a:ext cx="5605272" cy="1764792"/>
          </a:xfrm>
          <a:prstGeom prst="rect">
            <a:avLst/>
          </a:prstGeom>
          <a:solidFill>
            <a:srgbClr val="FF5A4E">
              <a:alpha val="0"/>
            </a:srgbClr>
          </a:solidFill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19672" y="46908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7434072" y="4828032"/>
            <a:ext cx="1280160" cy="29260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434072" y="4828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19672" y="523951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GNN-learned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519672" y="5594096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GraphSAGE → 16-d embeddings → cost = σ(⟨z_u, z_v⟩) → score = NetMelt eigenscore / learned cost. Detailed slide 9.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236207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four implement the same Policy interface in  src/stat175/policies/.    locked by Project Outline §3.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cost-aware edge removal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11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34095" y="6611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JACKSON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 ·  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 your bubble.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realistic baseline. One threshold knob, no per-edge optimization.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6400800" cy="365760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88720" y="2971800"/>
            <a:ext cx="1828800" cy="1828800"/>
          </a:xfrm>
          <a:prstGeom prst="ellipse">
            <a:avLst/>
          </a:prstGeom>
          <a:solidFill>
            <a:srgbClr val="FF5A4E">
              <a:alpha val="10000"/>
            </a:srgbClr>
          </a:solidFill>
          <a:ln w="9525">
            <a:solidFill>
              <a:srgbClr val="FF5A4E">
                <a:alpha val="5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H="1">
            <a:off x="2247228" y="3886200"/>
            <a:ext cx="322236" cy="443520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H="1">
            <a:off x="1725840" y="3886200"/>
            <a:ext cx="843624" cy="274110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flipH="1" flipV="1">
            <a:off x="1725840" y="3612090"/>
            <a:ext cx="843624" cy="274110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H="1" flipV="1">
            <a:off x="1725840" y="4160310"/>
            <a:ext cx="521388" cy="169409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V="1">
            <a:off x="1725840" y="3612090"/>
            <a:ext cx="0" cy="548220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V="1">
            <a:off x="1725840" y="3442680"/>
            <a:ext cx="521388" cy="169409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97680" y="2971800"/>
            <a:ext cx="1828800" cy="1828800"/>
          </a:xfrm>
          <a:prstGeom prst="ellipse">
            <a:avLst/>
          </a:prstGeom>
          <a:solidFill>
            <a:srgbClr val="7FE7B5">
              <a:alpha val="10000"/>
            </a:srgbClr>
          </a:solidFill>
          <a:ln w="9525">
            <a:solidFill>
              <a:srgbClr val="7FE7B5">
                <a:alpha val="5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H="1">
            <a:off x="5356188" y="3886200"/>
            <a:ext cx="322236" cy="443520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H="1">
            <a:off x="4834800" y="3886200"/>
            <a:ext cx="843624" cy="274110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H="1" flipV="1">
            <a:off x="4834800" y="3612090"/>
            <a:ext cx="843624" cy="274110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flipH="1" flipV="1">
            <a:off x="5356188" y="3442680"/>
            <a:ext cx="322236" cy="443520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H="1" flipV="1">
            <a:off x="4834800" y="4160310"/>
            <a:ext cx="521388" cy="169409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flipH="1" flipV="1">
            <a:off x="4834800" y="3612090"/>
            <a:ext cx="521388" cy="717630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V="1">
            <a:off x="5356188" y="3442680"/>
            <a:ext cx="0" cy="887039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88720" y="4343400"/>
            <a:ext cx="1828800" cy="1828800"/>
          </a:xfrm>
          <a:prstGeom prst="ellipse">
            <a:avLst/>
          </a:prstGeom>
          <a:solidFill>
            <a:srgbClr val="F2C572">
              <a:alpha val="10000"/>
            </a:srgbClr>
          </a:solidFill>
          <a:ln w="9525">
            <a:solidFill>
              <a:srgbClr val="F2C572">
                <a:alpha val="5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flipH="1">
            <a:off x="2103120" y="5257800"/>
            <a:ext cx="466344" cy="466344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flipH="1">
            <a:off x="1636776" y="5257800"/>
            <a:ext cx="932688" cy="0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H="1" flipV="1">
            <a:off x="2103120" y="4791456"/>
            <a:ext cx="466344" cy="466344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flipH="1" flipV="1">
            <a:off x="1636776" y="5257800"/>
            <a:ext cx="466344" cy="466344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V="1">
            <a:off x="2103120" y="4791456"/>
            <a:ext cx="0" cy="932688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297680" y="4343400"/>
            <a:ext cx="1828800" cy="1828800"/>
          </a:xfrm>
          <a:prstGeom prst="ellipse">
            <a:avLst/>
          </a:prstGeom>
          <a:solidFill>
            <a:srgbClr val="5C6680">
              <a:alpha val="10000"/>
            </a:srgbClr>
          </a:solidFill>
          <a:ln w="9525">
            <a:solidFill>
              <a:srgbClr val="5C6680">
                <a:alpha val="5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 flipH="1" flipV="1">
            <a:off x="4745736" y="5257800"/>
            <a:ext cx="466344" cy="466344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flipV="1">
            <a:off x="5212080" y="4791456"/>
            <a:ext cx="0" cy="932688"/>
          </a:xfrm>
          <a:prstGeom prst="line">
            <a:avLst/>
          </a:prstGeom>
          <a:noFill/>
          <a:ln w="6350">
            <a:solidFill>
              <a:srgbClr val="9FA8B8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 flipV="1">
            <a:off x="2247228" y="3442680"/>
            <a:ext cx="3108960" cy="887039"/>
          </a:xfrm>
          <a:prstGeom prst="line">
            <a:avLst/>
          </a:prstGeom>
          <a:noFill/>
          <a:ln w="9525">
            <a:solidFill>
              <a:srgbClr val="5C6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725840" y="4160310"/>
            <a:ext cx="377280" cy="1563834"/>
          </a:xfrm>
          <a:prstGeom prst="line">
            <a:avLst/>
          </a:prstGeom>
          <a:noFill/>
          <a:ln w="9525">
            <a:solidFill>
              <a:srgbClr val="5C6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356188" y="3442680"/>
            <a:ext cx="322236" cy="1815120"/>
          </a:xfrm>
          <a:prstGeom prst="line">
            <a:avLst/>
          </a:prstGeom>
          <a:noFill/>
          <a:ln w="9525">
            <a:solidFill>
              <a:srgbClr val="5C6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636776" y="5257800"/>
            <a:ext cx="3575304" cy="466344"/>
          </a:xfrm>
          <a:prstGeom prst="line">
            <a:avLst/>
          </a:prstGeom>
          <a:noFill/>
          <a:ln w="9525">
            <a:solidFill>
              <a:srgbClr val="5C6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725840" y="4160310"/>
            <a:ext cx="3019896" cy="1097490"/>
          </a:xfrm>
          <a:prstGeom prst="line">
            <a:avLst/>
          </a:prstGeom>
          <a:noFill/>
          <a:ln w="15875">
            <a:solidFill>
              <a:srgbClr val="FF5A4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 flipH="1">
            <a:off x="1636776" y="4160310"/>
            <a:ext cx="3198024" cy="1097490"/>
          </a:xfrm>
          <a:prstGeom prst="line">
            <a:avLst/>
          </a:prstGeom>
          <a:noFill/>
          <a:ln w="15875">
            <a:solidFill>
              <a:srgbClr val="FF5A4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496312" y="3813048"/>
            <a:ext cx="146304" cy="146304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174076" y="4256568"/>
            <a:ext cx="146304" cy="146304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652688" y="4087158"/>
            <a:ext cx="146304" cy="146304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652688" y="3538938"/>
            <a:ext cx="146304" cy="146304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174076" y="3369528"/>
            <a:ext cx="146304" cy="146304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605272" y="3813048"/>
            <a:ext cx="146304" cy="146304"/>
          </a:xfrm>
          <a:prstGeom prst="ellipse">
            <a:avLst/>
          </a:prstGeom>
          <a:solidFill>
            <a:srgbClr val="7FE7B5"/>
          </a:solidFill>
          <a:ln w="12700">
            <a:solidFill>
              <a:srgbClr val="7FE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283036" y="4256568"/>
            <a:ext cx="146304" cy="146304"/>
          </a:xfrm>
          <a:prstGeom prst="ellipse">
            <a:avLst/>
          </a:prstGeom>
          <a:solidFill>
            <a:srgbClr val="7FE7B5"/>
          </a:solidFill>
          <a:ln w="12700">
            <a:solidFill>
              <a:srgbClr val="7FE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61648" y="4087158"/>
            <a:ext cx="146304" cy="146304"/>
          </a:xfrm>
          <a:prstGeom prst="ellipse">
            <a:avLst/>
          </a:prstGeom>
          <a:solidFill>
            <a:srgbClr val="7FE7B5"/>
          </a:solidFill>
          <a:ln w="12700">
            <a:solidFill>
              <a:srgbClr val="7FE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761648" y="3538938"/>
            <a:ext cx="146304" cy="146304"/>
          </a:xfrm>
          <a:prstGeom prst="ellipse">
            <a:avLst/>
          </a:prstGeom>
          <a:solidFill>
            <a:srgbClr val="7FE7B5"/>
          </a:solidFill>
          <a:ln w="12700">
            <a:solidFill>
              <a:srgbClr val="7FE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283036" y="3369528"/>
            <a:ext cx="146304" cy="146304"/>
          </a:xfrm>
          <a:prstGeom prst="ellipse">
            <a:avLst/>
          </a:prstGeom>
          <a:solidFill>
            <a:srgbClr val="7FE7B5"/>
          </a:solidFill>
          <a:ln w="12700">
            <a:solidFill>
              <a:srgbClr val="7FE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496312" y="5184648"/>
            <a:ext cx="146304" cy="146304"/>
          </a:xfrm>
          <a:prstGeom prst="ellipse">
            <a:avLst/>
          </a:prstGeom>
          <a:solidFill>
            <a:srgbClr val="F2C572"/>
          </a:solidFill>
          <a:ln w="12700">
            <a:solidFill>
              <a:srgbClr val="F2C5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029968" y="5650992"/>
            <a:ext cx="146304" cy="146304"/>
          </a:xfrm>
          <a:prstGeom prst="ellipse">
            <a:avLst/>
          </a:prstGeom>
          <a:solidFill>
            <a:srgbClr val="F2C572"/>
          </a:solidFill>
          <a:ln w="12700">
            <a:solidFill>
              <a:srgbClr val="F2C5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563624" y="5184648"/>
            <a:ext cx="146304" cy="146304"/>
          </a:xfrm>
          <a:prstGeom prst="ellipse">
            <a:avLst/>
          </a:prstGeom>
          <a:solidFill>
            <a:srgbClr val="F2C572"/>
          </a:solidFill>
          <a:ln w="12700">
            <a:solidFill>
              <a:srgbClr val="F2C5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029968" y="4718304"/>
            <a:ext cx="146304" cy="146304"/>
          </a:xfrm>
          <a:prstGeom prst="ellipse">
            <a:avLst/>
          </a:prstGeom>
          <a:solidFill>
            <a:srgbClr val="F2C572"/>
          </a:solidFill>
          <a:ln w="12700">
            <a:solidFill>
              <a:srgbClr val="F2C5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605272" y="5184648"/>
            <a:ext cx="146304" cy="146304"/>
          </a:xfrm>
          <a:prstGeom prst="ellipse">
            <a:avLst/>
          </a:prstGeom>
          <a:solidFill>
            <a:srgbClr val="5C6680"/>
          </a:solidFill>
          <a:ln w="12700">
            <a:solidFill>
              <a:srgbClr val="5C6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138928" y="5650992"/>
            <a:ext cx="146304" cy="146304"/>
          </a:xfrm>
          <a:prstGeom prst="ellipse">
            <a:avLst/>
          </a:prstGeom>
          <a:solidFill>
            <a:srgbClr val="5C6680"/>
          </a:solidFill>
          <a:ln w="12700">
            <a:solidFill>
              <a:srgbClr val="5C6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72584" y="5184648"/>
            <a:ext cx="146304" cy="146304"/>
          </a:xfrm>
          <a:prstGeom prst="ellipse">
            <a:avLst/>
          </a:prstGeom>
          <a:solidFill>
            <a:srgbClr val="5C6680"/>
          </a:solidFill>
          <a:ln w="12700">
            <a:solidFill>
              <a:srgbClr val="5C6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138928" y="4718304"/>
            <a:ext cx="146304" cy="146304"/>
          </a:xfrm>
          <a:prstGeom prst="ellipse">
            <a:avLst/>
          </a:prstGeom>
          <a:solidFill>
            <a:srgbClr val="5C6680"/>
          </a:solidFill>
          <a:ln w="12700">
            <a:solidFill>
              <a:srgbClr val="5C6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68680" y="6126480"/>
            <a:ext cx="274320" cy="0"/>
          </a:xfrm>
          <a:prstGeom prst="line">
            <a:avLst/>
          </a:prstGeom>
          <a:noFill/>
          <a:ln w="762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188720" y="6035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intra-bubble · keep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926080" y="6126480"/>
            <a:ext cx="274320" cy="0"/>
          </a:xfrm>
          <a:prstGeom prst="line">
            <a:avLst/>
          </a:prstGeom>
          <a:noFill/>
          <a:ln w="9525">
            <a:solidFill>
              <a:srgbClr val="5C6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246120" y="60350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1 · keep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617720" y="6126480"/>
            <a:ext cx="274320" cy="0"/>
          </a:xfrm>
          <a:prstGeom prst="line">
            <a:avLst/>
          </a:prstGeom>
          <a:noFill/>
          <a:ln w="12700">
            <a:solidFill>
              <a:srgbClr val="FF5A4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937760" y="60350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≥ 2 · cut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178040" y="2606040"/>
            <a:ext cx="4480560" cy="365760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7178040" y="2606040"/>
            <a:ext cx="54864" cy="3657600"/>
          </a:xfrm>
          <a:prstGeom prst="rect">
            <a:avLst/>
          </a:prstGeom>
          <a:solidFill>
            <a:srgbClr val="7FE7B5"/>
          </a:solidFill>
          <a:ln w="12700">
            <a:solidFill>
              <a:srgbClr val="7FE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45236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FE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452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E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7818120" y="3246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Louvain on residual graph → community labels.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745236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E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7818120" y="37490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meta-graph (one node per community).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745236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E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7818120" y="42519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threshold X, cut edges (u, v) with  d_meta(c_u, c_v) &gt; X.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745236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E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7818120" y="4754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is the budget knob — sweep it.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7452360" y="5349240"/>
            <a:ext cx="3931920" cy="0"/>
          </a:xfrm>
          <a:prstGeom prst="line">
            <a:avLst/>
          </a:prstGeom>
          <a:noFill/>
          <a:ln w="6350">
            <a:solidFill>
              <a:srgbClr val="3A4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745236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 IT  MATTERS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452360" y="5760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may interact within your dorm-and-class bubble; not across."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cost-aware edge removal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11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34095" y="6611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JACKSON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 ·  04   ·   THE NOVEL PIECE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cost end-to-end.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a means. The cost function is what's learned.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2139696" cy="96012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ℝⁿˣ⁵⁹⁸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97480" y="3086100"/>
            <a:ext cx="100584" cy="0"/>
          </a:xfrm>
          <a:prstGeom prst="line">
            <a:avLst/>
          </a:prstGeom>
          <a:noFill/>
          <a:ln w="15875">
            <a:solidFill>
              <a:srgbClr val="F4F1E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807208" y="2606040"/>
            <a:ext cx="2139696" cy="96012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07208" y="274320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807208" y="315468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ℝⁿˣ⁶⁴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56048" y="3086100"/>
            <a:ext cx="100584" cy="0"/>
          </a:xfrm>
          <a:prstGeom prst="line">
            <a:avLst/>
          </a:prstGeom>
          <a:noFill/>
          <a:ln w="15875">
            <a:solidFill>
              <a:srgbClr val="F4F1E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65776" y="2606040"/>
            <a:ext cx="2139696" cy="960120"/>
          </a:xfrm>
          <a:prstGeom prst="rect">
            <a:avLst/>
          </a:prstGeom>
          <a:solidFill>
            <a:srgbClr val="FF5A4E">
              <a:alpha val="12000"/>
            </a:srgbClr>
          </a:solidFill>
          <a:ln w="1905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65776" y="274320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SAGE×2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65776" y="315468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encoder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214616" y="3086100"/>
            <a:ext cx="100584" cy="0"/>
          </a:xfrm>
          <a:prstGeom prst="line">
            <a:avLst/>
          </a:prstGeom>
          <a:noFill/>
          <a:ln w="15875">
            <a:solidFill>
              <a:srgbClr val="F4F1E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24344" y="2606040"/>
            <a:ext cx="2139696" cy="96012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24344" y="274320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24344" y="315468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ℝⁿˣ¹⁶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473184" y="3086100"/>
            <a:ext cx="100584" cy="0"/>
          </a:xfrm>
          <a:prstGeom prst="line">
            <a:avLst/>
          </a:prstGeom>
          <a:noFill/>
          <a:ln w="15875">
            <a:solidFill>
              <a:srgbClr val="F4F1E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582912" y="2606040"/>
            <a:ext cx="2139696" cy="96012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582912" y="274320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c(u,v)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582912" y="3154680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σ(⟨z_u, z_v⟩)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65776" y="3611880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hidden_dim=32 · embed_dim=16 · dropout=0.5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125712" y="3611880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 of slide 6's hand-designed σ(⟨x,x⟩)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640" y="4023360"/>
            <a:ext cx="5532120" cy="187452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8640" y="4023360"/>
            <a:ext cx="54864" cy="1874520"/>
          </a:xfrm>
          <a:prstGeom prst="rect">
            <a:avLst/>
          </a:prstGeom>
          <a:solidFill>
            <a:srgbClr val="7FE7B5"/>
          </a:solidFill>
          <a:ln w="12700">
            <a:solidFill>
              <a:srgbClr val="7FE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77240" y="4187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FE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TRAINING  ·  SELF-SUPERVISED LINK PREDICTION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" y="452628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real edges as positive pairs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481888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  sampled non-edges as negatives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77240" y="511149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ℒ   BCE on  σ(⟨z_u, z_v⟩)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7240" y="540410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  40 epochs · Adam · lr 1e-3 · per-campus encoder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63640" y="4023360"/>
            <a:ext cx="5532120" cy="187452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63640" y="4023360"/>
            <a:ext cx="54864" cy="187452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92240" y="4187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 SCORE  ·  NETMELT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92240" y="45262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score(e)  =  ( u_i · v_j  +  u_j · v_i )  /  c(u, v)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92240" y="498348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u, v  →  leading eigenvectors of 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92240" y="530352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CD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 fill until budget exhausted.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92240" y="557784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Tong et al. 2012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48640" y="62179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function itself is what's learned end-to-end.  the architecture is a means.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cost-aware edge removal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11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34095" y="6611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RYAN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HEADLINE  ·  R₀ = 1.5  ·  NEAR THE THRESHOLD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≈ 2× the next-best policy.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9448495" y="1097280"/>
            <a:ext cx="2194560" cy="50292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48495" y="10972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  =  1.5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7680960" cy="3931920"/>
          </a:xfrm>
          <a:prstGeom prst="line">
            <a:avLst/>
          </a:prstGeom>
          <a:noFill/>
          <a:ln w="5080">
            <a:solidFill>
              <a:srgbClr val="3A4256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244144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main_pareto_R0_1.5.png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458200" y="2331720"/>
            <a:ext cx="3200400" cy="393192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 5%  BUDGET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prevalence reduction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686800" y="3200400"/>
            <a:ext cx="2743200" cy="0"/>
          </a:xfrm>
          <a:prstGeom prst="line">
            <a:avLst/>
          </a:prstGeom>
          <a:noFill/>
          <a:ln w="6350">
            <a:solidFill>
              <a:srgbClr val="3A4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686800" y="3547872"/>
            <a:ext cx="146304" cy="146304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915400" y="3383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21240" y="3246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−4.0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1201400" y="3520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86800" y="4261104"/>
            <a:ext cx="146304" cy="146304"/>
          </a:xfrm>
          <a:prstGeom prst="ellipse">
            <a:avLst/>
          </a:prstGeom>
          <a:solidFill>
            <a:srgbClr val="7FE7B5"/>
          </a:solidFill>
          <a:ln w="12700">
            <a:solidFill>
              <a:srgbClr val="7FE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915400" y="40965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E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21240" y="395935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7FE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−2.2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1201400" y="42336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E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86800" y="4974336"/>
            <a:ext cx="146304" cy="146304"/>
          </a:xfrm>
          <a:prstGeom prst="ellipse">
            <a:avLst/>
          </a:prstGeom>
          <a:solidFill>
            <a:srgbClr val="5C6680"/>
          </a:solidFill>
          <a:ln w="12700">
            <a:solidFill>
              <a:srgbClr val="5C6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915400" y="48097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921240" y="4672584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C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1201400" y="494690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686800" y="5687568"/>
            <a:ext cx="146304" cy="146304"/>
          </a:xfrm>
          <a:prstGeom prst="ellipse">
            <a:avLst/>
          </a:prstGeom>
          <a:solidFill>
            <a:srgbClr val="9FA8B8"/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915400" y="552297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921240" y="538581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9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−1.6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1201400" y="56601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</a:t>
            </a:r>
            <a:endParaRPr lang="en-US" sz="1100" dirty="0"/>
          </a:p>
        </p:txBody>
      </p:sp>
      <p:pic>
        <p:nvPicPr>
          <p:cNvPr id="38" name="Picture 37" descr="A collage of graphs&#10;&#10;AI-generated content may be incorrect.">
            <a:extLst>
              <a:ext uri="{FF2B5EF4-FFF2-40B4-BE49-F238E27FC236}">
                <a16:creationId xmlns:a16="http://schemas.microsoft.com/office/drawing/2014/main" id="{3D19C2CE-4E69-619B-24F7-BE90EA1C6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98" y="2462413"/>
            <a:ext cx="7941702" cy="36705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cost-aware edge removal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11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34095" y="6611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RYAN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 R₀  GROWS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picture flips.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learning helps most where the disease is barely sustaining itself.  brute-force structural cuts dominate when every path overflows.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3703320" cy="502920"/>
          </a:xfrm>
          <a:prstGeom prst="rect">
            <a:avLst/>
          </a:prstGeom>
          <a:solidFill>
            <a:srgbClr val="1B2440"/>
          </a:solidFill>
          <a:ln w="1270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R₀  =  0.8      ·    SUBCRITICAL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V="1">
            <a:off x="548640" y="3108960"/>
            <a:ext cx="3703320" cy="2606040"/>
          </a:xfrm>
          <a:prstGeom prst="line">
            <a:avLst/>
          </a:prstGeom>
          <a:noFill/>
          <a:ln w="5080">
            <a:solidFill>
              <a:srgbClr val="3A4256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32186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41376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main_pareto_R0_0.8.png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7607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threshold; all policies → 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2606040"/>
            <a:ext cx="3703320" cy="50292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38912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R₀  =  3.0      ·      MID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89120" y="3108960"/>
            <a:ext cx="3703320" cy="2606040"/>
          </a:xfrm>
          <a:prstGeom prst="line">
            <a:avLst/>
          </a:prstGeom>
          <a:noFill/>
          <a:ln w="5080">
            <a:solidFill>
              <a:srgbClr val="3A4256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4389120" y="3108960"/>
            <a:ext cx="3703320" cy="2606040"/>
          </a:xfrm>
          <a:prstGeom prst="line">
            <a:avLst/>
          </a:prstGeom>
          <a:noFill/>
          <a:ln w="5080">
            <a:solidFill>
              <a:srgbClr val="3A4256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98848" y="32186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0" y="57607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advantage shrinks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0" y="2606040"/>
            <a:ext cx="3703320" cy="502920"/>
          </a:xfrm>
          <a:prstGeom prst="rect">
            <a:avLst/>
          </a:prstGeom>
          <a:solidFill>
            <a:srgbClr val="7FE7B5"/>
          </a:solidFill>
          <a:ln w="12700">
            <a:solidFill>
              <a:srgbClr val="7FE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0" y="26060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R₀  =  6.0      ·      ENDEMIC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0" y="3108960"/>
            <a:ext cx="3703320" cy="2606040"/>
          </a:xfrm>
          <a:prstGeom prst="line">
            <a:avLst/>
          </a:prstGeom>
          <a:noFill/>
          <a:ln w="5080">
            <a:solidFill>
              <a:srgbClr val="3A4256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flipV="1">
            <a:off x="8229600" y="3108960"/>
            <a:ext cx="3703320" cy="2606040"/>
          </a:xfrm>
          <a:prstGeom prst="line">
            <a:avLst/>
          </a:prstGeom>
          <a:noFill/>
          <a:ln w="5080">
            <a:solidFill>
              <a:srgbClr val="3A4256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39328" y="321868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57607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FE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&amp; Betweenness now match</a:t>
            </a:r>
            <a:endParaRPr lang="en-US" sz="1100" dirty="0"/>
          </a:p>
        </p:txBody>
      </p:sp>
      <p:pic>
        <p:nvPicPr>
          <p:cNvPr id="39" name="Picture 38" descr="A group of graphs with numbers&#10;&#10;AI-generated content may be incorrect.">
            <a:extLst>
              <a:ext uri="{FF2B5EF4-FFF2-40B4-BE49-F238E27FC236}">
                <a16:creationId xmlns:a16="http://schemas.microsoft.com/office/drawing/2014/main" id="{438E0E39-915E-2EEF-1F57-A62EE37F8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60" y="3598587"/>
            <a:ext cx="3758100" cy="1736937"/>
          </a:xfrm>
          <a:prstGeom prst="rect">
            <a:avLst/>
          </a:prstGeom>
        </p:spPr>
      </p:pic>
      <p:pic>
        <p:nvPicPr>
          <p:cNvPr id="41" name="Picture 40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B1AC5723-5831-87BB-EB75-94D2F98E4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524" y="3574446"/>
            <a:ext cx="3782511" cy="1748219"/>
          </a:xfrm>
          <a:prstGeom prst="rect">
            <a:avLst/>
          </a:prstGeom>
        </p:spPr>
      </p:pic>
      <p:pic>
        <p:nvPicPr>
          <p:cNvPr id="43" name="Picture 42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01C5F027-3367-14E7-0FD4-1B964F6EBF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599" y="3561588"/>
            <a:ext cx="3729336" cy="17236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cost-aware edge removal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11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34095" y="6611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RYAN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ROBUSTNESS  ·  R₀ = 1.5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break the headline (none of them do)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4572000" cy="1188720"/>
          </a:xfrm>
          <a:prstGeom prst="line">
            <a:avLst/>
          </a:prstGeom>
          <a:noFill/>
          <a:ln w="5080">
            <a:solidFill>
              <a:srgbClr val="3A4256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V="1">
            <a:off x="548640" y="2331720"/>
            <a:ext cx="4572000" cy="1188720"/>
          </a:xfrm>
          <a:prstGeom prst="line">
            <a:avLst/>
          </a:prstGeom>
          <a:noFill/>
          <a:ln w="5080">
            <a:solidFill>
              <a:srgbClr val="3A4256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49240" y="2103120"/>
            <a:ext cx="6309360" cy="118872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49240" y="2103120"/>
            <a:ext cx="54864" cy="118872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3212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COMPLIANCE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32120" y="26060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at 60% compliance still beats every other policy at 100%.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 flipV="1">
            <a:off x="548640" y="3657600"/>
            <a:ext cx="4572000" cy="1188720"/>
          </a:xfrm>
          <a:prstGeom prst="line">
            <a:avLst/>
          </a:prstGeom>
          <a:noFill/>
          <a:ln w="5080">
            <a:solidFill>
              <a:srgbClr val="3A4256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349240" y="3429000"/>
            <a:ext cx="6309360" cy="118872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349240" y="3429000"/>
            <a:ext cx="54864" cy="1188720"/>
          </a:xfrm>
          <a:prstGeom prst="rect">
            <a:avLst/>
          </a:prstGeom>
          <a:solidFill>
            <a:srgbClr val="7FE7B5"/>
          </a:solidFill>
          <a:ln w="12700">
            <a:solidFill>
              <a:srgbClr val="7FE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3212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7FE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SIR ALTERNATIVE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32120" y="393192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cost-aware ranking is not an SIS artifact.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4983480"/>
            <a:ext cx="4572000" cy="1188720"/>
          </a:xfrm>
          <a:prstGeom prst="line">
            <a:avLst/>
          </a:prstGeom>
          <a:noFill/>
          <a:ln w="5080">
            <a:solidFill>
              <a:srgbClr val="3A4256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 flipV="1">
            <a:off x="548640" y="4983480"/>
            <a:ext cx="4572000" cy="1188720"/>
          </a:xfrm>
          <a:prstGeom prst="line">
            <a:avLst/>
          </a:prstGeom>
          <a:noFill/>
          <a:ln w="5080">
            <a:solidFill>
              <a:srgbClr val="3A4256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349240" y="4754880"/>
            <a:ext cx="6309360" cy="118872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349240" y="4754880"/>
            <a:ext cx="54864" cy="118872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3212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ADVERSARIAL SEEDING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32120" y="52578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now wins both regimes — including R₀ = 6 where it had been third.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8640" y="62179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reduced sim budget on these panels  (n_realizations = 20)  is documented in WARNINGS.md.</a:t>
            </a:r>
            <a:endParaRPr lang="en-US" sz="950" dirty="0"/>
          </a:p>
        </p:txBody>
      </p:sp>
      <p:pic>
        <p:nvPicPr>
          <p:cNvPr id="43" name="Picture 42" descr="A collage of graphs&#10;&#10;AI-generated content may be incorrect.">
            <a:extLst>
              <a:ext uri="{FF2B5EF4-FFF2-40B4-BE49-F238E27FC236}">
                <a16:creationId xmlns:a16="http://schemas.microsoft.com/office/drawing/2014/main" id="{FDA40D41-25A4-7568-59B4-70D14B1EA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027" y="2050466"/>
            <a:ext cx="2837480" cy="1310217"/>
          </a:xfrm>
          <a:prstGeom prst="rect">
            <a:avLst/>
          </a:prstGeom>
        </p:spPr>
      </p:pic>
      <p:pic>
        <p:nvPicPr>
          <p:cNvPr id="45" name="Picture 44" descr="A group of graphs showing different types of data&#10;&#10;AI-generated content may be incorrect.">
            <a:extLst>
              <a:ext uri="{FF2B5EF4-FFF2-40B4-BE49-F238E27FC236}">
                <a16:creationId xmlns:a16="http://schemas.microsoft.com/office/drawing/2014/main" id="{4B32CB22-E81A-B9F7-5787-C08204E93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6027" y="3392435"/>
            <a:ext cx="2837480" cy="1310217"/>
          </a:xfrm>
          <a:prstGeom prst="rect">
            <a:avLst/>
          </a:prstGeom>
        </p:spPr>
      </p:pic>
      <p:pic>
        <p:nvPicPr>
          <p:cNvPr id="47" name="Picture 4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7D721FC-8C32-5828-BD9E-5A82C96DC3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2192" y="4745747"/>
            <a:ext cx="2888746" cy="13338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cost-aware edge removal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11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34095" y="6611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RYAN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ABLATIONS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doesn't matter, but cost variance does.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2144972"/>
            <a:ext cx="1691640" cy="292608"/>
          </a:xfrm>
          <a:prstGeom prst="rect">
            <a:avLst/>
          </a:prstGeom>
          <a:solidFill>
            <a:srgbClr val="7FE7B5"/>
          </a:solidFill>
          <a:ln w="12700">
            <a:solidFill>
              <a:srgbClr val="7FE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449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" y="27576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74517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ablation_gnn_arch_R0_3.0.png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82532"/>
            <a:ext cx="5532120" cy="59436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52825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GraphSAGE  =  GAT  =  GCN   within bootstrap CI.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58025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E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what matters; the operator doesn't.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2144972"/>
            <a:ext cx="1691640" cy="29260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21449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 FUNCTION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2647892"/>
            <a:ext cx="5532120" cy="2743200"/>
          </a:xfrm>
          <a:prstGeom prst="line">
            <a:avLst/>
          </a:prstGeom>
          <a:noFill/>
          <a:ln w="5080">
            <a:solidFill>
              <a:srgbClr val="3A4256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V="1">
            <a:off x="6309360" y="2647892"/>
            <a:ext cx="5532120" cy="2743200"/>
          </a:xfrm>
          <a:prstGeom prst="line">
            <a:avLst/>
          </a:prstGeom>
          <a:noFill/>
          <a:ln w="5080">
            <a:solidFill>
              <a:srgbClr val="3A4256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19088" y="27576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FGURE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92240" y="374517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ablation_cost_function_R0_3.0.png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406521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paper/figures/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5482532"/>
            <a:ext cx="5532120" cy="59436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92240" y="552825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F1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 oracle_lognormal  (high variance), the GNN advantage widens.   under  uniform, it shrinks.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5802572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cost-aware framing depends on cost actually varying.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62179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synthetic-topology + cross-campus regression deferred to the appendix and the paper.</a:t>
            </a:r>
            <a:endParaRPr lang="en-US" sz="950" dirty="0"/>
          </a:p>
        </p:txBody>
      </p:sp>
      <p:pic>
        <p:nvPicPr>
          <p:cNvPr id="34" name="Picture 33" descr="A graph of a function&#10;&#10;AI-generated content may be incorrect.">
            <a:extLst>
              <a:ext uri="{FF2B5EF4-FFF2-40B4-BE49-F238E27FC236}">
                <a16:creationId xmlns:a16="http://schemas.microsoft.com/office/drawing/2014/main" id="{A5555424-6071-3AB5-5CA2-E880D9BBE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2006"/>
            <a:ext cx="5547359" cy="2561514"/>
          </a:xfrm>
          <a:prstGeom prst="rect">
            <a:avLst/>
          </a:prstGeom>
        </p:spPr>
      </p:pic>
      <p:pic>
        <p:nvPicPr>
          <p:cNvPr id="36" name="Picture 35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8D93C841-3906-032B-6241-9DD715068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740" y="2738139"/>
            <a:ext cx="5547359" cy="25615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cost-aware edge removal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11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34095" y="6611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RYAN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ARE NOT CLAIMING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 ≠ contact. 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48640" y="2308860"/>
            <a:ext cx="5532120" cy="329184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308860"/>
            <a:ext cx="54864" cy="329184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5374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 WE  ARE  NOT  SOLVING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9489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Friendship ≠ contact.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689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Facebook100 is stable friendships; epidemics spread on transient contact graphs.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8633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is a simplification.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1833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respiratory pathogens have latency, age structure, behavior change.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7777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a proxy.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097780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σ(⟨x, x⟩) stands in for social distance — not the dollar cost of a school closure.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2308860"/>
            <a:ext cx="5394960" cy="329184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63640" y="2308860"/>
            <a:ext cx="54864" cy="3291840"/>
          </a:xfrm>
          <a:prstGeom prst="rect">
            <a:avLst/>
          </a:prstGeom>
          <a:solidFill>
            <a:srgbClr val="F2C572"/>
          </a:solidFill>
          <a:ln w="12700">
            <a:solidFill>
              <a:srgbClr val="F2C5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37960" y="25374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2C5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WE  CUT  CORNERS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37960" y="29489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GNN encoder.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32689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TruncatedSVD pre-projection · hidden=32 · embed=16 · 40 epochs. Full retrain script in notebooks/.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38633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betweenness.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41833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300 pivots on Penn94 / Tennessee95 (Brandes 2008).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47777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robustness sim.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50977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n_realizations = 20 vs 50 in main results — see WARNINGS.md.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943600"/>
            <a:ext cx="11109960" cy="50292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594360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is the framing — that cost-awareness reorders policy rankings — not a deployable COVID intervention.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cost-aware edge removal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11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34095" y="6611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RYAN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yourself.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pyvis · live SIS spread on the residual graph · five campuses pre-loaded.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7315200" cy="3657600"/>
          </a:xfrm>
          <a:prstGeom prst="line">
            <a:avLst/>
          </a:prstGeom>
          <a:noFill/>
          <a:ln w="5080">
            <a:solidFill>
              <a:srgbClr val="3A4256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V="1">
            <a:off x="548640" y="2606040"/>
            <a:ext cx="7315200" cy="3657600"/>
          </a:xfrm>
          <a:prstGeom prst="line">
            <a:avLst/>
          </a:prstGeom>
          <a:noFill/>
          <a:ln w="5080">
            <a:solidFill>
              <a:srgbClr val="3A4256">
                <a:alpha val="4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77200" y="2427554"/>
            <a:ext cx="3566160" cy="3657600"/>
          </a:xfrm>
          <a:prstGeom prst="rect">
            <a:avLst/>
          </a:prstGeom>
          <a:solidFill>
            <a:srgbClr val="131A2E"/>
          </a:solidFill>
          <a:ln w="6350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77200" y="2427554"/>
            <a:ext cx="54864" cy="365760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05800" y="265615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305800" y="3186506"/>
            <a:ext cx="91440" cy="91440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34400" y="306763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campuses pre-loaded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05800" y="3643706"/>
            <a:ext cx="91440" cy="91440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34400" y="352483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SIS  ↔  SIR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05800" y="4100906"/>
            <a:ext cx="91440" cy="91440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34400" y="398203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policies side-by-side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05800" y="4558106"/>
            <a:ext cx="91440" cy="91440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34400" y="443923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infection curve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05800" y="5015306"/>
            <a:ext cx="91440" cy="91440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534400" y="489643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edges greyed out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305800" y="5472506"/>
            <a:ext cx="91440" cy="91440"/>
          </a:xfrm>
          <a:prstGeom prst="ellipse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534400" y="535363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 for inference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 webapp/app.py</a:t>
            </a:r>
            <a:endParaRPr lang="en-US" sz="950" dirty="0"/>
          </a:p>
        </p:txBody>
      </p:sp>
      <p:pic>
        <p:nvPicPr>
          <p:cNvPr id="37" name="Picture 36" descr="A screen shot of a graph&#10;&#10;AI-generated content may be incorrect.">
            <a:extLst>
              <a:ext uri="{FF2B5EF4-FFF2-40B4-BE49-F238E27FC236}">
                <a16:creationId xmlns:a16="http://schemas.microsoft.com/office/drawing/2014/main" id="{61809725-D025-4D72-2D63-688DCD471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40" y="2427554"/>
            <a:ext cx="6772600" cy="37164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5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cost-aware edge removal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11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34095" y="6611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RYAN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0" y="1645920"/>
            <a:ext cx="121916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22000" dirty="0"/>
          </a:p>
        </p:txBody>
      </p:sp>
      <p:sp>
        <p:nvSpPr>
          <p:cNvPr id="7" name="Text 5"/>
          <p:cNvSpPr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webapp/app.py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B1020">
                    <a:alpha val="7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R₀ = 1.5    ·    5% budget    ·    Caltech36    ·    GNN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2495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 175  ·  cost-aware edge removal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6565392"/>
            <a:ext cx="12191695" cy="0"/>
          </a:xfrm>
          <a:prstGeom prst="line">
            <a:avLst/>
          </a:prstGeom>
          <a:noFill/>
          <a:ln w="6350">
            <a:solidFill>
              <a:srgbClr val="FF5A4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6611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C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34095" y="6611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flipV="1">
            <a:off x="4533057" y="2920014"/>
            <a:ext cx="9480" cy="268775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33057" y="3188790"/>
            <a:ext cx="515952" cy="383882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3968764" y="4176274"/>
            <a:ext cx="215341" cy="112232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 flipV="1">
            <a:off x="3899382" y="4175453"/>
            <a:ext cx="284723" cy="821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 flipV="1">
            <a:off x="5049009" y="3572672"/>
            <a:ext cx="157963" cy="227498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99382" y="4175453"/>
            <a:ext cx="69382" cy="113052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H="1" flipV="1">
            <a:off x="3816002" y="4790329"/>
            <a:ext cx="315419" cy="11488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flipH="1" flipV="1">
            <a:off x="3601161" y="5253746"/>
            <a:ext cx="447840" cy="278300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H="1">
            <a:off x="3601161" y="4790329"/>
            <a:ext cx="214841" cy="463417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H="1" flipV="1">
            <a:off x="2624656" y="5407917"/>
            <a:ext cx="504569" cy="144049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V="1">
            <a:off x="2227215" y="5407917"/>
            <a:ext cx="397441" cy="314286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flipH="1" flipV="1">
            <a:off x="2265618" y="4284491"/>
            <a:ext cx="240021" cy="458342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H="1" flipV="1">
            <a:off x="2247797" y="4227254"/>
            <a:ext cx="257843" cy="515579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 flipH="1" flipV="1">
            <a:off x="2247797" y="4227254"/>
            <a:ext cx="17822" cy="57237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 flipH="1" flipV="1">
            <a:off x="1567169" y="4220432"/>
            <a:ext cx="223264" cy="462987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20763" y="4023745"/>
            <a:ext cx="46406" cy="196688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1520763" y="3813226"/>
            <a:ext cx="39822" cy="210519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 flipH="1" flipV="1">
            <a:off x="1560585" y="3813226"/>
            <a:ext cx="6584" cy="407206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flipV="1">
            <a:off x="852963" y="3813226"/>
            <a:ext cx="707622" cy="15372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flipV="1">
            <a:off x="855059" y="2562675"/>
            <a:ext cx="536205" cy="374530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flipV="1">
            <a:off x="855059" y="2363008"/>
            <a:ext cx="321931" cy="574197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flipV="1">
            <a:off x="1819741" y="3051538"/>
            <a:ext cx="327293" cy="149307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 flipH="1" flipV="1">
            <a:off x="1176991" y="2363008"/>
            <a:ext cx="214274" cy="199667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flipV="1">
            <a:off x="2147033" y="2945711"/>
            <a:ext cx="294300" cy="105827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 flipH="1" flipV="1">
            <a:off x="2322574" y="2518574"/>
            <a:ext cx="118760" cy="427137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242311" y="1903694"/>
            <a:ext cx="80263" cy="614880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242311" y="1903694"/>
            <a:ext cx="436809" cy="601123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 flipV="1">
            <a:off x="2322574" y="2504817"/>
            <a:ext cx="356546" cy="13757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093902" y="1462945"/>
            <a:ext cx="807445" cy="365627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 flipV="1">
            <a:off x="3676813" y="2369707"/>
            <a:ext cx="125742" cy="185701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 flipH="1">
            <a:off x="3644029" y="2555408"/>
            <a:ext cx="32784" cy="401789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 flipV="1">
            <a:off x="3802556" y="2139078"/>
            <a:ext cx="480784" cy="230630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901347" y="1828572"/>
            <a:ext cx="381993" cy="310505"/>
          </a:xfrm>
          <a:prstGeom prst="line">
            <a:avLst/>
          </a:prstGeom>
          <a:noFill/>
          <a:ln w="6350">
            <a:solidFill>
              <a:srgbClr val="9FA8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496481" y="3152214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147530" y="4139698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170396" y="3763594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862806" y="4138877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932188" y="4251929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094845" y="4765241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012424" y="5495470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779426" y="4753753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564585" y="5217170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092649" y="5515390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190639" y="5685627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469063" y="4706258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588080" y="5371341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229042" y="4247915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211221" y="4190678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753857" y="4646844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1484187" y="3987169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530593" y="4183856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16387" y="3792022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1524009" y="3776650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818483" y="2900630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1783165" y="3164270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1354689" y="2526099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140415" y="2326432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2110457" y="3014962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404757" y="2909135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205735" y="1867118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2285998" y="2481998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642543" y="2468241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3057326" y="1426369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640237" y="2518832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3765980" y="2333131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3864771" y="1791996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246763" y="2102502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3607453" y="2920621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505960" y="2883438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5012433" y="3536096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4088846" y="3717649"/>
            <a:ext cx="73152" cy="73152"/>
          </a:xfrm>
          <a:prstGeom prst="ellipse">
            <a:avLst/>
          </a:prstGeom>
          <a:solidFill>
            <a:srgbClr val="9FA8B8">
              <a:alpha val="50000"/>
            </a:srgbClr>
          </a:solidFill>
          <a:ln w="12700">
            <a:solidFill>
              <a:srgbClr val="9FA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 flipH="1" flipV="1">
            <a:off x="3996561" y="3256821"/>
            <a:ext cx="51524" cy="81988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 flipH="1" flipV="1">
            <a:off x="3964628" y="3209399"/>
            <a:ext cx="83457" cy="129410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 flipH="1">
            <a:off x="3343981" y="4149284"/>
            <a:ext cx="389034" cy="122340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 flipH="1">
            <a:off x="3209772" y="4149284"/>
            <a:ext cx="523243" cy="260315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 flipH="1">
            <a:off x="3209772" y="4271624"/>
            <a:ext cx="134210" cy="137976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 flipH="1">
            <a:off x="2858878" y="4409600"/>
            <a:ext cx="350893" cy="322224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 flipH="1" flipV="1">
            <a:off x="2430820" y="4395090"/>
            <a:ext cx="428058" cy="336734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 flipV="1">
            <a:off x="2196941" y="4395090"/>
            <a:ext cx="233880" cy="463878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 flipH="1" flipV="1">
            <a:off x="1977711" y="4161937"/>
            <a:ext cx="453109" cy="233153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 flipH="1" flipV="1">
            <a:off x="1727478" y="3626924"/>
            <a:ext cx="250233" cy="535014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 flipV="1">
            <a:off x="1727478" y="2769560"/>
            <a:ext cx="77107" cy="857364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 flipV="1">
            <a:off x="1804585" y="2737455"/>
            <a:ext cx="412115" cy="32106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804585" y="2769560"/>
            <a:ext cx="699915" cy="253569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 flipH="1" flipV="1">
            <a:off x="2216700" y="2737455"/>
            <a:ext cx="287800" cy="285675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 flipV="1">
            <a:off x="2504500" y="2996906"/>
            <a:ext cx="594409" cy="26224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3098909" y="2996906"/>
            <a:ext cx="150524" cy="52230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 flipV="1">
            <a:off x="3098909" y="2697318"/>
            <a:ext cx="429197" cy="299588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2"/>
          <p:cNvSpPr/>
          <p:nvPr/>
        </p:nvSpPr>
        <p:spPr>
          <a:xfrm flipV="1">
            <a:off x="3249433" y="2697318"/>
            <a:ext cx="278673" cy="351819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3964628" y="3209399"/>
            <a:ext cx="31934" cy="47422"/>
          </a:xfrm>
          <a:prstGeom prst="line">
            <a:avLst/>
          </a:prstGeom>
          <a:noFill/>
          <a:ln w="6350">
            <a:solidFill>
              <a:srgbClr val="FF5A4E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4011509" y="3302233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3696439" y="4112708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4335567" y="4246325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3307405" y="4235048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3173196" y="4373024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2822302" y="4695248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2160365" y="4822392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394244" y="4358514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1941135" y="4125361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1690902" y="3590348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1768009" y="2732984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2467924" y="2986554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2180124" y="2700879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3062333" y="2960330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212857" y="3012561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3491531" y="2660742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3928052" y="3172823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3959985" y="3220245"/>
            <a:ext cx="73152" cy="73152"/>
          </a:xfrm>
          <a:prstGeom prst="ellipse">
            <a:avLst/>
          </a:prstGeom>
          <a:solidFill>
            <a:srgbClr val="FF5A4E">
              <a:alpha val="35000"/>
            </a:srgbClr>
          </a:solidFill>
          <a:ln w="12700">
            <a:solidFill>
              <a:srgbClr val="FF5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5852160" y="1737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5A4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 YOU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5852160" y="21031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116" name="Shape 114"/>
          <p:cNvSpPr/>
          <p:nvPr/>
        </p:nvSpPr>
        <p:spPr>
          <a:xfrm>
            <a:off x="5852160" y="3703320"/>
            <a:ext cx="5852160" cy="0"/>
          </a:xfrm>
          <a:prstGeom prst="line">
            <a:avLst/>
          </a:prstGeom>
          <a:noFill/>
          <a:ln w="9525">
            <a:solidFill>
              <a:srgbClr val="3A42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5852160" y="3931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FA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REPRODUCE  THE  HEADLINE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585216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E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scripts/04_run_pareto.py  &amp;&amp;  python scripts/08_make_figures.py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5852160" y="4846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Karlo Vrančić  ·  Alec Leprevotte  ·  Jackson Webster  ·  Ryan Jiang</a:t>
            </a:r>
            <a:endParaRPr lang="en-US" sz="1200" dirty="0"/>
          </a:p>
        </p:txBody>
      </p:sp>
      <p:sp>
        <p:nvSpPr>
          <p:cNvPr id="120" name="Text 118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3A4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(graph, minus_edges, contained)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2716</Words>
  <Application>Microsoft Macintosh PowerPoint</Application>
  <PresentationFormat>Widescreen</PresentationFormat>
  <Paragraphs>362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 175 — Cost-Constrained Edge Removal for Epidemic Containment</dc:title>
  <dc:subject>PptxGenJS Presentation</dc:subject>
  <dc:creator>Vrancic · Leprevotte · Webster · Jiang</dc:creator>
  <cp:lastModifiedBy>Karlo Vrančić</cp:lastModifiedBy>
  <cp:revision>10</cp:revision>
  <dcterms:created xsi:type="dcterms:W3CDTF">2026-04-29T04:48:17Z</dcterms:created>
  <dcterms:modified xsi:type="dcterms:W3CDTF">2026-04-29T06:25:36Z</dcterms:modified>
</cp:coreProperties>
</file>